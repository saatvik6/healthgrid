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cold: 'This is a live district. Every dot is a health facility scored in real time. Two of them are in crisis — and the system already knows what to do about it.'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data that could prevent stock-outs exists — it's just trapped at the facility on paper, and arrives at the district a month late as an aggregate.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Judges reward solutions that plug into the existing stack. We are a lens and a decision layer, not a replacement HMIS.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real screenshot, not a mockup. Wardha district, Maharashtra — real geography, synthetic-but-calibrated operational data, labeled as such.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Anticipate the 'is the AI real?' question: predictions are our math, the LLM never invents a number, and nothing writes to the database without human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peak of the demo video — a real spoken Hindi sentence becoming a structured inventory update with the map reacting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Districts don't just need today's picture — they need to know what a flood does to next week's supply. This is preparedness planning with the same deterministic engines.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medicines to prevent every projected stock-out already exist inside the district. What's missing is visibility and coordination — that's the product.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Gemini capability the challenge highlights is used somewhere real: structured outputs everywhere, function calling in the copilot, audio understanding in voice, TTS in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loop: observe, understand, predict, recommend, approve, execute, monitor. Thank the judges. Offer the live demo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creenshots/hero-ma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92040" y="0"/>
            <a:ext cx="425196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892040" y="0"/>
            <a:ext cx="320040" cy="5143500"/>
          </a:xfrm>
          <a:prstGeom prst="rect">
            <a:avLst/>
          </a:prstGeom>
          <a:solidFill>
            <a:srgbClr val="0A0E13">
              <a:alpha val="6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41732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HealthGrid </a:t>
            </a:r>
            <a:pPr algn="l" indent="0" marL="0">
              <a:buNone/>
            </a:pPr>
            <a:r>
              <a:rPr lang="en-US" sz="4600" b="1" dirty="0">
                <a:solidFill>
                  <a:srgbClr val="4FA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502920" y="224028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command center for district public healthcare.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02920" y="30632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4FA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HMIS records what happened.</a:t>
            </a: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4FA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HealthGrid decides what to do next.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with AI · Code for Communities — Smart Health track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Nishant Rajpathak · Saatvik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D9524A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primary healthcare runs blind between monthly reports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192024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212848"/>
            <a:ext cx="566928" cy="566928"/>
          </a:xfrm>
          <a:prstGeom prst="ellipse">
            <a:avLst/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2350008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25,000+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8952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PHCs track medicines, beds and staff on paper registers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19272" y="192024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75304" y="2212848"/>
            <a:ext cx="566928" cy="566928"/>
          </a:xfrm>
          <a:prstGeom prst="ellipse">
            <a:avLst/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35000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~30 days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575304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facility data reaches the district through monthly HMIS reporting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35624" y="1920240"/>
            <a:ext cx="2606040" cy="2514600"/>
          </a:xfrm>
          <a:prstGeom prst="roundRect">
            <a:avLst>
              <a:gd name="adj" fmla="val 2182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91656" y="2212848"/>
            <a:ext cx="566928" cy="566928"/>
          </a:xfrm>
          <a:prstGeom prst="ellipse">
            <a:avLst/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8816" y="235000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91656" y="29718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 late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6391656" y="356616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stock-outs and staffing gaps are discovered after patients are turned away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HMIS records what happened.
</a:t>
            </a:r>
            <a:pPr algn="l" indent="0" marL="0">
              <a:buNone/>
            </a:pPr>
            <a:r>
              <a:rPr lang="en-US" sz="30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HealthGrid decides what to do next.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251460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798064"/>
            <a:ext cx="109728" cy="109728"/>
          </a:xfrm>
          <a:prstGeom prst="ellipse">
            <a:avLst/>
          </a:prstGeom>
          <a:solidFill>
            <a:srgbClr val="5F7183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HMIS · DVDMS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systems of record — monthly reporting, drug logistics. Unchanged.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990088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14700" y="251460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70732" y="2798064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12" name="Text 10"/>
          <p:cNvSpPr/>
          <p:nvPr/>
        </p:nvSpPr>
        <p:spPr>
          <a:xfrm>
            <a:off x="3790188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HealthGrid AI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70732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layer: live scores, forecasts, guarded transfer recommendations.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801868" y="31089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26480" y="2514600"/>
            <a:ext cx="2514600" cy="1737360"/>
          </a:xfrm>
          <a:prstGeom prst="roundRect">
            <a:avLst>
              <a:gd name="adj" fmla="val 3158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2798064"/>
            <a:ext cx="109728" cy="1097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267004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Same-day 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82512" y="3127248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approved interventions with a full audit trail.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02920" y="45262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rip-and-replace: HealthGrid ingests the records districts already keep — and fills the real-time gap between reports from the frontline itself.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· DISTRICT COMMAND CENTER</a:t>
            </a:r>
            <a:endParaRPr lang="en-US" sz="1200" dirty="0"/>
          </a:p>
        </p:txBody>
      </p:sp>
      <p:pic>
        <p:nvPicPr>
          <p:cNvPr id="4" name="Image 0" descr="docs/screenshots/01-command-cen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5943600" cy="35496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29400" y="978408"/>
            <a:ext cx="457200" cy="457200"/>
          </a:xfrm>
          <a:prstGeom prst="ellipse">
            <a:avLst/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1088136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05472" y="96012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digital twin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7205472" y="134416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facilities scored 0–100 on medicines, staffing, beds, surge, diagnostics.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629400" y="2212848"/>
            <a:ext cx="457200" cy="457200"/>
          </a:xfrm>
          <a:prstGeom prst="ellipse">
            <a:avLst/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9128" y="23225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205472" y="21945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that explains &amp; acts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7205472" y="257860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 and guarded transfer plans — approved in one click.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629400" y="3447288"/>
            <a:ext cx="457200" cy="457200"/>
          </a:xfrm>
          <a:prstGeom prst="ellipse">
            <a:avLst/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9128" y="3557016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205472" y="3429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Realtime, no refresh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7205472" y="3813048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field update re-scores the district in seconds via Firestore sync.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AI HOLDS UP UNDER SCRUTINY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engines decide the numbers. Gemini does what LLMs are actually good at.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4023360" cy="2560320"/>
          </a:xfrm>
          <a:prstGeom prst="roundRect">
            <a:avLst>
              <a:gd name="adj" fmla="val 2143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2FA3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&amp; TESTED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scoring — 5 weighted components, 0–100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Burn-rate stock-out forecasts per medicine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guardrails: donor keeps 14+ days, max 40%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 unit tests · reproducible seed &amp; simulations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09160" y="1691640"/>
            <a:ext cx="4023360" cy="2560320"/>
          </a:xfrm>
          <a:prstGeom prst="roundRect">
            <a:avLst>
              <a:gd name="adj" fmla="val 2143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8348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FA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GEMINI, WHERE IT EXCELS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228600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root-cause explanations — every claim cites data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transfer proposals, validated server-side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with function calling over live engines</a:t>
            </a:r>
            <a:endParaRPr lang="en-US" sz="125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Hindi / Marathi / English speech → structured updates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74320" y="452628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Observe → Understand → Predict → Recommend → Approve → Execute → Monitor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FRONTLINE · VOICE-FIRST FIELD UPDATES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1112" y="667512"/>
            <a:ext cx="2099718" cy="4288536"/>
          </a:xfrm>
          <a:prstGeom prst="roundRect">
            <a:avLst>
              <a:gd name="adj" fmla="val 5226"/>
            </a:avLst>
          </a:prstGeom>
          <a:solidFill>
            <a:srgbClr val="141C26"/>
          </a:solidFill>
          <a:ln w="19050">
            <a:solidFill>
              <a:srgbClr val="243040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pic>
        <p:nvPicPr>
          <p:cNvPr id="5" name="Image 0" descr="docs/screenshots/04-field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777240"/>
            <a:ext cx="1880262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8686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 worker speaks.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reacts in seconds.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502920" y="2011680"/>
            <a:ext cx="5806440" cy="960120"/>
          </a:xfrm>
          <a:prstGeom prst="roundRect">
            <a:avLst>
              <a:gd name="adj" fmla="val 5714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2240280"/>
            <a:ext cx="502920" cy="502920"/>
          </a:xfrm>
          <a:prstGeom prst="ellipse">
            <a:avLst/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" y="236829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2176272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EDF2"/>
                </a:solidFill>
                <a:latin typeface="Nirmala UI" pitchFamily="34" charset="0"/>
                <a:ea typeface="Nirmala UI" pitchFamily="34" charset="-122"/>
                <a:cs typeface="Nirmala UI" pitchFamily="34" charset="-120"/>
              </a:rPr>
              <a:t>“आज ओआरएस का स्टॉक 50 बचा है”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463040" y="2587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audio → structured update → worker confirms → live re-score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502920" y="3246120"/>
            <a:ext cx="5852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Language-first onboarding: हिंदी · मराठी · English — whole UI localizes</a:t>
            </a:r>
            <a:endParaRPr lang="en-US" sz="13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mixed speech and maps medicine names to inventory ids</a:t>
            </a:r>
            <a:endParaRPr lang="en-US" sz="13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is written without on-screen confirmation by the worker</a:t>
            </a:r>
            <a:endParaRPr lang="en-US" sz="13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4FA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forms. No paperwork. No English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D9A03C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· WEATHER &amp; DISASTER STRESS MODE</a:t>
            </a:r>
            <a:endParaRPr lang="en-US" sz="1200" dirty="0"/>
          </a:p>
        </p:txBody>
      </p:sp>
      <p:pic>
        <p:nvPicPr>
          <p:cNvPr id="4" name="Image 0" descr="docs/screenshots/incident-fac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5669280" cy="33858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55080" y="1005840"/>
            <a:ext cx="457200" cy="457200"/>
          </a:xfrm>
          <a:prstGeom prst="ellipse">
            <a:avLst/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808" y="1115568"/>
            <a:ext cx="237744" cy="237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31152" y="97840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Alert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931152" y="1335024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ORS ×1.8 · zinc ×1.7 · footfall +35% — outbreak-level diarrhoeal load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6355080" y="2212848"/>
            <a:ext cx="457200" cy="457200"/>
          </a:xfrm>
          <a:prstGeom prst="ellipse">
            <a:avLst/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2322576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31152" y="2185416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Heatwave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6931152" y="2542032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ORS ×1.9 · IV fluids ×1.6 — dehydration and heat stroke pattern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6355080" y="3419856"/>
            <a:ext cx="457200" cy="457200"/>
          </a:xfrm>
          <a:prstGeom prst="ellipse">
            <a:avLst/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808" y="3529584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931152" y="3392424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reversible lens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6931152" y="374904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Forecasts, scores and the queue re-rank under stress. Switch back — baseline restores exactly. No data touched.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502920" y="4526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Multipliers follow WHO first-line response patterns — built to be replaced by live IMD weather signals.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2FA36B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IMPACT — SIMULATED, REPRODUCIBLE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month, one district, existing stock only: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947672" cy="2194560"/>
          </a:xfrm>
          <a:prstGeom prst="roundRect">
            <a:avLst>
              <a:gd name="adj" fmla="val 2817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965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→ 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85800" y="2788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facility-medicine stock-out days, next 30 days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33472" y="1600200"/>
            <a:ext cx="1947672" cy="2194560"/>
          </a:xfrm>
          <a:prstGeom prst="roundRect">
            <a:avLst>
              <a:gd name="adj" fmla="val 2817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965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A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816352" y="2788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guarded transfers between facilities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64024" y="1600200"/>
            <a:ext cx="1947672" cy="2194560"/>
          </a:xfrm>
          <a:prstGeom prst="roundRect">
            <a:avLst>
              <a:gd name="adj" fmla="val 2817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46904" y="1965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4FA3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5,157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46904" y="2788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of existing district stock redistributed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94576" y="1600200"/>
            <a:ext cx="1947672" cy="2194560"/>
          </a:xfrm>
          <a:prstGeom prst="roundRect">
            <a:avLst>
              <a:gd name="adj" fmla="val 2817"/>
            </a:avLst>
          </a:prstGeom>
          <a:solidFill>
            <a:srgbClr val="141C26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7456" y="196596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FA3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₹0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7077456" y="2788920"/>
            <a:ext cx="1600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medicine purchased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160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Counterfactual simulation over the seeded 90-day history + 30-day projection, using the exact engines and guardrails that run in the product. Judges can reproduce it:  npx tsx scripts/impact-sim.ts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29768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GOOGLE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is the interface. Deterministic engines are the authority.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1901952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7" name="Text 5"/>
          <p:cNvSpPr/>
          <p:nvPr/>
        </p:nvSpPr>
        <p:spPr>
          <a:xfrm>
            <a:off x="978408" y="1773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API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78408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outputs · function calling · audio understanding · multilingual · TTS (demo narration)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36592" y="164592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92624" y="1901952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11" name="Text 9"/>
          <p:cNvSpPr/>
          <p:nvPr/>
        </p:nvSpPr>
        <p:spPr>
          <a:xfrm>
            <a:off x="5212080" y="177393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Firestore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212080" y="214884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Realtime listeners power the live map — no polling, no refresh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7180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952" y="3227832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15" name="Text 13"/>
          <p:cNvSpPr/>
          <p:nvPr/>
        </p:nvSpPr>
        <p:spPr>
          <a:xfrm>
            <a:off x="978408" y="3099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Platform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78408" y="3474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digital twin on real Wardha cartography, custom dark style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36592" y="2971800"/>
            <a:ext cx="3977640" cy="1143000"/>
          </a:xfrm>
          <a:prstGeom prst="roundRect">
            <a:avLst>
              <a:gd name="adj" fmla="val 4800"/>
            </a:avLst>
          </a:prstGeom>
          <a:solidFill>
            <a:srgbClr val="10161D"/>
          </a:solidFill>
          <a:ln w="12700">
            <a:solidFill>
              <a:srgbClr val="2430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92624" y="3227832"/>
            <a:ext cx="109728" cy="109728"/>
          </a:xfrm>
          <a:prstGeom prst="ellipse">
            <a:avLst/>
          </a:prstGeom>
          <a:solidFill>
            <a:srgbClr val="4FA3A5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309981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Firebase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212080" y="347472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SDK transactions, security rules, hosting path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9FB0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Next.js 16 · TypeScript · 74 unit tests · quota-aware Gemini model rotation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ocs/screenshots/02-facility-panel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-274320" y="-502920"/>
            <a:ext cx="9692640" cy="57886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E13">
              <a:alpha val="86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02920" y="1234440"/>
            <a:ext cx="8138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health worker's voice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a district's decision — in seconds.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02920" y="2788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0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district today. 36 in Maharashtra. The decision layer India's HMIS data has been waiting for.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2920" y="4343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ED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HealthGrid </a:t>
            </a:r>
            <a:pPr algn="l" indent="0" marL="0">
              <a:buNone/>
            </a:pPr>
            <a:r>
              <a:rPr lang="en-US" sz="1300" b="1" dirty="0">
                <a:solidFill>
                  <a:srgbClr val="4FA3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pPr algn="l" indent="0" marL="0">
              <a:buNone/>
            </a:pPr>
            <a:r>
              <a:rPr lang="en-US" sz="13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github.com/nishantr14/healthgrid   ·   Nishant Rajpathak &amp; Saatvik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HealthGrid AI — Pitch</dc:title>
  <dc:subject>PptxGenJS Presentation</dc:subject>
  <dc:creator>HealthGrid AI</dc:creator>
  <cp:lastModifiedBy>HealthGrid AI</cp:lastModifiedBy>
  <cp:revision>1</cp:revision>
  <dcterms:created xsi:type="dcterms:W3CDTF">2026-07-07T12:42:26Z</dcterms:created>
  <dcterms:modified xsi:type="dcterms:W3CDTF">2026-07-07T12:42:26Z</dcterms:modified>
</cp:coreProperties>
</file>